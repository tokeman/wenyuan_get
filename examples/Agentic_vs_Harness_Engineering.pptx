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 SVG Source ===</a:t>
            </a:r>
          </a:p>
          <a:p>
            <a:r>
              <a:t>(You can copy the code below and save as .svg to edit)</a:t>
            </a:r>
          </a:p>
          <a:p/>
          <a:p>
            <a:r>
              <a:t>&lt;svg xmlns="http://www.w3.org/2000/svg" viewBox="0 0 1280 720"&gt;</a:t>
            </a:r>
          </a:p>
          <a:p>
            <a:r>
              <a:t>  &lt;!-- 背景 --&gt;</a:t>
            </a:r>
          </a:p>
          <a:p>
            <a:r>
              <a:t>  &lt;defs&gt;</a:t>
            </a:r>
          </a:p>
          <a:p>
            <a:r>
              <a:t>    &lt;linearGradient id="grad1" x1="0%" y1="0%" x2="100%" y2="100%"&gt;</a:t>
            </a:r>
          </a:p>
          <a:p>
            <a:r>
              <a:t>      &lt;stop offset="0%" style="stop-color:#f0f7ff;stop-opacity:1" /&gt;</a:t>
            </a:r>
          </a:p>
          <a:p>
            <a:r>
              <a:t>      &lt;stop offset="100%" style="stop-color:#e6f3f0;stop-opacity:1" /&gt;</a:t>
            </a:r>
          </a:p>
          <a:p>
            <a:r>
              <a:t>    &lt;/linearGradient&gt;</a:t>
            </a:r>
          </a:p>
          <a:p>
            <a:r>
              <a:t>  &lt;/defs&gt;</a:t>
            </a:r>
          </a:p>
          <a:p>
            <a:r>
              <a:t>  &lt;rect width="1280" height="720" fill="url(#grad1)" /&gt;</a:t>
            </a:r>
          </a:p>
          <a:p>
            <a:r>
              <a:t>  </a:t>
            </a:r>
          </a:p>
          <a:p>
            <a:r>
              <a:t>  &lt;!-- 装饰线条 --&gt;</a:t>
            </a:r>
          </a:p>
          <a:p>
            <a:r>
              <a:t>  &lt;path d="M0 100 L1280 100" stroke="#00a8cc" stroke-width="2" opacity="0.3"/&gt;</a:t>
            </a:r>
          </a:p>
          <a:p>
            <a:r>
              <a:t>  </a:t>
            </a:r>
          </a:p>
          <a:p>
            <a:r>
              <a:t>  &lt;!-- 标题 --&gt;</a:t>
            </a:r>
          </a:p>
          <a:p>
            <a:r>
              <a:t>  &lt;text x="640" y="60" text-anchor="middle" font-family="'Noto Sans CJK SC', sans-serif" font-size="36" font-weight="bold" fill="#1a3a5f"&gt;1. 定义与核心概念：能力之刃 vs. 框架之盾&lt;/text&gt;</a:t>
            </a:r>
          </a:p>
          <a:p>
            <a:r>
              <a:t>  </a:t>
            </a:r>
          </a:p>
          <a:p>
            <a:r>
              <a:t>  &lt;!-- 左侧：Agentic Skill --&gt;</a:t>
            </a:r>
          </a:p>
          <a:p>
            <a:r>
              <a:t>  &lt;rect x="100" y="150" width="500" height="480" rx="15" fill="#ffffff" stroke="#00a8cc" stroke-width="2" /&gt;</a:t>
            </a:r>
          </a:p>
          <a:p>
            <a:r>
              <a:t>  &lt;rect x="100" y="150" width="500" height="60" rx="15" fill="#00a8cc" /&gt;</a:t>
            </a:r>
          </a:p>
          <a:p>
            <a:r>
              <a:t>  &lt;text x="350" y="190" text-anchor="middle" font-family="'Noto Sans CJK SC', sans-serif" font-size="24" fill="#ffffff" font-weight="bold"&gt;Agentic Skill (智能体技能)&lt;/text&gt;</a:t>
            </a:r>
          </a:p>
          <a:p>
            <a:r>
              <a:t>  </a:t>
            </a:r>
          </a:p>
          <a:p>
            <a:r>
              <a:t>  &lt;text x="140" y="260" font-family="'Noto Sans CJK SC', sans-serif" font-size="20" fill="#1a3a5f" font-weight="bold"&gt;核心定义：&lt;/text&gt;</a:t>
            </a:r>
          </a:p>
          <a:p>
            <a:r>
              <a:t>  &lt;text x="140" y="300" font-family="'Noto Sans CJK SC', sans-serif" font-size="18" fill="#333"&gt;赋予 Agent 执行特定任务的“原子能力”。&lt;/text&gt;</a:t>
            </a:r>
          </a:p>
          <a:p>
            <a:r>
              <a:t>  </a:t>
            </a:r>
          </a:p>
          <a:p>
            <a:r>
              <a:t>  &lt;text x="140" y="360" font-family="'Noto Sans CJK SC', sans-serif" font-size="20" fill="#1a3a5f" font-weight="bold"&gt;关键词：&lt;/text&gt;</a:t>
            </a:r>
          </a:p>
          <a:p>
            <a:r>
              <a:t>  &lt;circle cx="150" cy="405" r="5" fill="#00a8cc" /&gt;</a:t>
            </a:r>
          </a:p>
          <a:p>
            <a:r>
              <a:t>  &lt;text x="170" y="410" font-family="'Noto Sans CJK SC', sans-serif" font-size="18" fill="#333"&gt;工具调用 (Tool Calling)&lt;/text&gt;</a:t>
            </a:r>
          </a:p>
          <a:p>
            <a:r>
              <a:t>  &lt;circle cx="150" cy="445" r="5" fill="#00a8cc" /&gt;</a:t>
            </a:r>
          </a:p>
          <a:p>
            <a:r>
              <a:t>  &lt;text x="170" y="450" font-family="'Noto Sans CJK SC', sans-serif" font-size="18" fill="#333"&gt;长期记忆与规划&lt;/text&gt;</a:t>
            </a:r>
          </a:p>
          <a:p>
            <a:r>
              <a:t>  &lt;circle cx="150" cy="485" r="5" fill="#00a8cc" /&gt;</a:t>
            </a:r>
          </a:p>
          <a:p>
            <a:r>
              <a:t>  &lt;text x="170" y="490" font-family="'Noto Sans CJK SC', sans-serif" font-size="18" fill="#333"&gt;自主决策逻辑&lt;/text&gt;</a:t>
            </a:r>
          </a:p>
          <a:p>
            <a:r>
              <a:t>  </a:t>
            </a:r>
          </a:p>
          <a:p>
            <a:r>
              <a:t>  &lt;text x="350" y="580" text-anchor="middle" font-family="'Noto Sans CJK SC', sans-serif" font-size="22" fill="#00a8cc" font-style="italic"&gt;“Agent 能做什么？”&lt;/text&gt;</a:t>
            </a:r>
          </a:p>
          <a:p/>
          <a:p>
            <a:r>
              <a:t>  &lt;!-- 右侧：Harness Engineering --&gt;</a:t>
            </a:r>
          </a:p>
          <a:p>
            <a:r>
              <a:t>  &lt;rect x="680" y="150" width="500" height="480" rx="15" fill="#ffffff" stroke="#00cc99" stroke-width="2" /&gt;</a:t>
            </a:r>
          </a:p>
          <a:p>
            <a:r>
              <a:t>  &lt;rect x="680" y="150" width="500" height="60" rx="15" fill="#00cc99" /&gt;</a:t>
            </a:r>
          </a:p>
          <a:p>
            <a:r>
              <a:t>  &lt;text x="930" y="190" text-anchor="middle" font-family="'Noto Sans CJK SC', sans-serif" font-size="24" fill="#ffffff" font-weight="bold"&gt;Harness Engineering (测试/约束工程)&lt;/text&gt;</a:t>
            </a:r>
          </a:p>
          <a:p>
            <a:r>
              <a:t>  </a:t>
            </a:r>
          </a:p>
          <a:p>
            <a:r>
              <a:t>  &lt;text x="720" y="260" font-family="'Noto Sans CJK SC', sans-serif" font-size="20" fill="#1a3a5f" font-weight="bold"&gt;核心定义：&lt;/text&gt;</a:t>
            </a:r>
          </a:p>
          <a:p>
            <a:r>
              <a:t>  &lt;text x="720" y="300" font-family="'Noto Sans CJK SC', sans-serif" font-size="18" fill="#333"&gt;构建 Agent 运行的隔离环境与评估体系。&lt;/text&gt;</a:t>
            </a:r>
          </a:p>
          <a:p>
            <a:r>
              <a:t>  </a:t>
            </a:r>
          </a:p>
          <a:p>
            <a:r>
              <a:t>  &lt;text x="720" y="360" font-family="'Noto Sans CJK SC', sans-serif" font-size="20" fill="#1a3a5f" font-weight="bold"&gt;关键词：&lt;/text&gt;</a:t>
            </a:r>
          </a:p>
          <a:p>
            <a:r>
              <a:t>  &lt;circle cx="730" cy="405" r="5" fill="#00cc99" /&gt;</a:t>
            </a:r>
          </a:p>
          <a:p>
            <a:r>
              <a:t>  &lt;text x="750" y="410" font-family="'Noto Sans CJK SC', sans-serif" font-size="18" fill="#333"&gt;沙箱隔离 (Sandboxing)&lt;/text&gt;</a:t>
            </a:r>
          </a:p>
          <a:p>
            <a:r>
              <a:t>  &lt;circle cx="730" cy="445" r="5" fill="#00cc99" /&gt;</a:t>
            </a:r>
          </a:p>
          <a:p>
            <a:r>
              <a:t>  &lt;text x="750" y="450" font-family="'Noto Sans CJK SC', sans-serif" font-size="18" fill="#333"&gt;自动化基准测试 (Benchmarks)&lt;/text&gt;</a:t>
            </a:r>
          </a:p>
          <a:p>
            <a:r>
              <a:t>  &lt;circle cx="730" cy="485" r="5" fill="#00cc99" /&gt;</a:t>
            </a:r>
          </a:p>
          <a:p>
            <a:r>
              <a:t>  &lt;text x="750" y="490" font-family="'Noto Sans CJK SC', sans-serif" font-size="18" fill="#333"&gt;边界反馈与监控&lt;/text&gt;</a:t>
            </a:r>
          </a:p>
          <a:p>
            <a:r>
              <a:t>  </a:t>
            </a:r>
          </a:p>
          <a:p>
            <a:r>
              <a:t>  &lt;text x="930" y="580" text-anchor="middle" font-family="'Noto Sans CJK SC', sans-serif" font-size="22" fill="#00cc99" font-style="italic"&gt;“Agent 如何被控制与评估？”&lt;/text&gt;</a:t>
            </a:r>
          </a:p>
          <a:p>
            <a:r>
              <a:t>&lt;/svg&gt;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2 SVG Source ===</a:t>
            </a:r>
          </a:p>
          <a:p>
            <a:r>
              <a:t>(You can copy the code below and save as .svg to edit)</a:t>
            </a:r>
          </a:p>
          <a:p/>
          <a:p>
            <a:r>
              <a:t>&lt;svg xmlns="http://www.w3.org/2000/svg" viewBox="0 0 1280 720"&gt;</a:t>
            </a:r>
          </a:p>
          <a:p>
            <a:r>
              <a:t>  &lt;rect width="1280" height="720" fill="#f8fbff" /&gt;</a:t>
            </a:r>
          </a:p>
          <a:p>
            <a:r>
              <a:t>  &lt;rect x="0" y="0" width="1280" height="80" fill="#1a3a5f" /&gt;</a:t>
            </a:r>
          </a:p>
          <a:p>
            <a:r>
              <a:t>  &lt;text x="640" y="50" text-anchor="middle" font-family="'Noto Sans CJK SC', sans-serif" font-size="32" font-weight="bold" fill="#ffffff"&gt;2. 痛点对比：各自解决什么问题&lt;/text&gt;</a:t>
            </a:r>
          </a:p>
          <a:p>
            <a:r>
              <a:t>  </a:t>
            </a:r>
          </a:p>
          <a:p>
            <a:r>
              <a:t>  &lt;!-- 三栏对比布局 --&gt;</a:t>
            </a:r>
          </a:p>
          <a:p>
            <a:r>
              <a:t>  &lt;!-- Agentic Skill 痛点 --&gt;</a:t>
            </a:r>
          </a:p>
          <a:p>
            <a:r>
              <a:t>  &lt;rect x="80" y="120" width="540" height="260" rx="10" fill="#ffffff" stroke="#e0e0e0" /&gt;</a:t>
            </a:r>
          </a:p>
          <a:p>
            <a:r>
              <a:t>  &lt;text x="100" y="160" font-family="'Noto Sans CJK SC', sans-serif" font-size="22" font-weight="bold" fill="#00a8cc"&gt;Agentic Skill 解决的“执行难”&lt;/text&gt;</a:t>
            </a:r>
          </a:p>
          <a:p>
            <a:r>
              <a:t>  &lt;line x1="100" y1="175" x2="600" y2="175" stroke="#00a8cc" stroke-width="1" /&gt;</a:t>
            </a:r>
          </a:p>
          <a:p>
            <a:r>
              <a:t>  &lt;text x="120" y="215" font-family="'Noto Sans CJK SC', sans-serif" font-size="18" fill="#555"&gt;● LLM 无法直接操作私有 API 或本地文件&lt;/text&gt;</a:t>
            </a:r>
          </a:p>
          <a:p>
            <a:r>
              <a:t>  &lt;text x="120" y="255" font-family="'Noto Sans CJK SC', sans-serif" font-size="18" fill="#555"&gt;● 任务逻辑复杂，单纯依靠 Prompt 易遗忘步骤&lt;/text&gt;</a:t>
            </a:r>
          </a:p>
          <a:p>
            <a:r>
              <a:t>  &lt;text x="120" y="295" font-family="'Noto Sans CJK SC', sans-serif" font-size="18" fill="#555"&gt;● 缺乏领域专业知识（如特定工业协议解析）&lt;/text&gt;</a:t>
            </a:r>
          </a:p>
          <a:p>
            <a:r>
              <a:t>  &lt;text x="120" y="335" font-family="'Noto Sans CJK SC', sans-serif" font-size="18" fill="#555"&gt;● 决策路径不透明，难以调试中间状态&lt;/text&gt;</a:t>
            </a:r>
          </a:p>
          <a:p/>
          <a:p>
            <a:r>
              <a:t>  &lt;!-- Harness Engineering 痛点 --&gt;</a:t>
            </a:r>
          </a:p>
          <a:p>
            <a:r>
              <a:t>  &lt;rect x="660" y="120" width="540" height="260" rx="10" fill="#ffffff" stroke="#e0e0e0" /&gt;</a:t>
            </a:r>
          </a:p>
          <a:p>
            <a:r>
              <a:t>  &lt;text x="680" y="160" font-family="'Noto Sans CJK SC', sans-serif" font-size="22" font-weight="bold" fill="#00cc99"&gt;Harness Engineering 解决的“落地难”&lt;/text&gt;</a:t>
            </a:r>
          </a:p>
          <a:p>
            <a:r>
              <a:t>  &lt;line x1="680" y1="175" x2="1180" y2="175" stroke="#00cc99" stroke-width="1" /&gt;</a:t>
            </a:r>
          </a:p>
          <a:p>
            <a:r>
              <a:t>  &lt;text x="700" y="215" font-family="'Noto Sans CJK SC', sans-serif" font-size="18" fill="#555"&gt;● 幻觉导致 Agent 误删数据库或执行危险命令&lt;/text&gt;</a:t>
            </a:r>
          </a:p>
          <a:p>
            <a:r>
              <a:t>  &lt;text x="700" y="255" font-family="'Noto Sans CJK SC', sans-serif" font-size="18" fill="#555"&gt;● 性能波动：同一模型在不同时间表现不一致&lt;/text&gt;</a:t>
            </a:r>
          </a:p>
          <a:p>
            <a:r>
              <a:t>  &lt;text x="700" y="295" font-family="'Noto Sans CJK SC', sans-serif" font-size="18" fill="#555"&gt;● 测试成本高：手动评估 Agent 成功率效率低下&lt;/text&gt;</a:t>
            </a:r>
          </a:p>
          <a:p>
            <a:r>
              <a:t>  &lt;text x="700" y="335" font-family="'Noto Sans CJK SC', sans-serif" font-size="18" fill="#555"&gt;● 环境不可控：Agent 执行会污染真实生产环境&lt;/text&gt;</a:t>
            </a:r>
          </a:p>
          <a:p/>
          <a:p>
            <a:r>
              <a:t>  &lt;!-- 总结图示 --&gt;</a:t>
            </a:r>
          </a:p>
          <a:p>
            <a:r>
              <a:t>  &lt;rect x="80" y="420" width="1120" height="240" rx="10" fill="#eef2f6" /&gt;</a:t>
            </a:r>
          </a:p>
          <a:p>
            <a:r>
              <a:t>  &lt;text x="640" y="465" text-anchor="middle" font-family="'Noto Sans CJK SC', sans-serif" font-size="24" font-weight="bold" fill="#1a3a5f"&gt;核心冲突：能力 vs. 安全&lt;/text&gt;</a:t>
            </a:r>
          </a:p>
          <a:p>
            <a:r>
              <a:t>  </a:t>
            </a:r>
          </a:p>
          <a:p>
            <a:r>
              <a:t>  &lt;rect x="150" y="500" width="400" height="120" rx="5" fill="#ffffff" /&gt;</a:t>
            </a:r>
          </a:p>
          <a:p>
            <a:r>
              <a:t>  &lt;text x="350" y="540" text-anchor="middle" font-family="'Noto Sans CJK SC', sans-serif" font-size="20" fill="#333"&gt;缺少 Skill:&lt;/text&gt;</a:t>
            </a:r>
          </a:p>
          <a:p>
            <a:r>
              <a:t>  &lt;text x="350" y="580" text-anchor="middle" font-family="'Noto Sans CJK SC', sans-serif" font-size="26" font-weight="bold" fill="#d9534f"&gt;“有力使不出”&lt;/text&gt;</a:t>
            </a:r>
          </a:p>
          <a:p>
            <a:r>
              <a:t>  </a:t>
            </a:r>
          </a:p>
          <a:p>
            <a:r>
              <a:t>  &lt;rect x="730" y="500" width="400" height="120" rx="5" fill="#ffffff" /&gt;</a:t>
            </a:r>
          </a:p>
          <a:p>
            <a:r>
              <a:t>  &lt;text x="930" y="540" text-anchor="middle" font-family="'Noto Sans CJK SC', sans-serif" font-size="20" fill="#333"&gt;缺少 Harness:&lt;/text&gt;</a:t>
            </a:r>
          </a:p>
          <a:p>
            <a:r>
              <a:t>  &lt;text x="930" y="580" text-anchor="middle" font-family="'Noto Sans CJK SC', sans-serif" font-size="26" font-weight="bold" fill="#d9534f"&gt;“乱搞出大事”&lt;/text&gt;</a:t>
            </a:r>
          </a:p>
          <a:p>
            <a:r>
              <a:t>&lt;/svg&gt;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3 SVG Source ===</a:t>
            </a:r>
          </a:p>
          <a:p>
            <a:r>
              <a:t>(You can copy the code below and save as .svg to edit)</a:t>
            </a:r>
          </a:p>
          <a:p/>
          <a:p>
            <a:r>
              <a:t>&lt;svg xmlns="http://www.w3.org/2000/svg" viewBox="0 0 1280 720"&gt;</a:t>
            </a:r>
          </a:p>
          <a:p>
            <a:r>
              <a:t>  &lt;rect width="1280" height="720" fill="#ffffff" /&gt;</a:t>
            </a:r>
          </a:p>
          <a:p>
            <a:r>
              <a:t>  &lt;rect x="0" y="0" width="1280" height="100" fill="#00a8cc" /&gt;</a:t>
            </a:r>
          </a:p>
          <a:p>
            <a:r>
              <a:t>  &lt;text x="640" y="60" text-anchor="middle" font-family="'Noto Sans CJK SC', sans-serif" font-size="32" font-weight="bold" fill="#ffffff"&gt;3. 核心机制对比：技术实现差异&lt;/text&gt;</a:t>
            </a:r>
          </a:p>
          <a:p>
            <a:r>
              <a:t>  </a:t>
            </a:r>
          </a:p>
          <a:p>
            <a:r>
              <a:t>  &lt;!-- 流程图 --&gt;</a:t>
            </a:r>
          </a:p>
          <a:p>
            <a:r>
              <a:t>  &lt;!-- 左侧 Skill 机制 --&gt;</a:t>
            </a:r>
          </a:p>
          <a:p>
            <a:r>
              <a:t>  &lt;text x="320" y="160" text-anchor="middle" font-family="'Noto Sans CJK SC', sans-serif" font-size="24" font-weight="bold" fill="#00a8cc"&gt;Agentic Skill 工作流&lt;/text&gt;</a:t>
            </a:r>
          </a:p>
          <a:p>
            <a:r>
              <a:t>  &lt;rect x="120" y="200" width="400" height="80" rx="10" fill="#f0faff" stroke="#00a8cc" /&gt;</a:t>
            </a:r>
          </a:p>
          <a:p>
            <a:r>
              <a:t>  &lt;text x="320" y="245" text-anchor="middle" font-family="'Noto Sans CJK SC', sans-serif" font-size="18" fill="#333"&gt;Schema 定义 (JSON/Docstring)&lt;/text&gt;</a:t>
            </a:r>
          </a:p>
          <a:p>
            <a:r>
              <a:t>  </a:t>
            </a:r>
          </a:p>
          <a:p>
            <a:r>
              <a:t>  &lt;path d="M320 280 L320 320" fill="none" stroke="#00a8cc" stroke-width="3" /&gt;</a:t>
            </a:r>
          </a:p>
          <a:p>
            <a:r>
              <a:t>  </a:t>
            </a:r>
          </a:p>
          <a:p>
            <a:r>
              <a:t>  &lt;rect x="120" y="320" width="400" height="80" rx="10" fill="#f0faff" stroke="#00a8cc" /&gt;</a:t>
            </a:r>
          </a:p>
          <a:p>
            <a:r>
              <a:t>  &lt;text x="320" y="365" text-anchor="middle" font-family="'Noto Sans CJK SC', sans-serif" font-size="18" fill="#333"&gt;Tool Picker (Router/LLM 选择)&lt;/text&gt;</a:t>
            </a:r>
          </a:p>
          <a:p>
            <a:r>
              <a:t>  </a:t>
            </a:r>
          </a:p>
          <a:p>
            <a:r>
              <a:t>  &lt;path d="M320 400 L320 440" fill="none" stroke="#00a8cc" stroke-width="3" /&gt;</a:t>
            </a:r>
          </a:p>
          <a:p>
            <a:r>
              <a:t>  </a:t>
            </a:r>
          </a:p>
          <a:p>
            <a:r>
              <a:t>  &lt;rect x="120" y="440" width="400" height="80" rx="10" fill="#f0faff" stroke="#00a8cc" /&gt;</a:t>
            </a:r>
          </a:p>
          <a:p>
            <a:r>
              <a:t>  &lt;text x="320" y="485" text-anchor="middle" font-family="'Noto Sans CJK SC', sans-serif" font-size="18" fill="#333"&gt;Execution Layer (Python/API)&lt;/text&gt;</a:t>
            </a:r>
          </a:p>
          <a:p/>
          <a:p>
            <a:r>
              <a:t>  &lt;!-- 右侧 Harness 机制 --&gt;</a:t>
            </a:r>
          </a:p>
          <a:p>
            <a:r>
              <a:t>  &lt;text x="960" y="160" text-anchor="middle" font-family="'Noto Sans CJK SC', sans-serif" font-size="24" font-weight="bold" fill="#00cc99"&gt;Harness Engineering 架构&lt;/text&gt;</a:t>
            </a:r>
          </a:p>
          <a:p>
            <a:r>
              <a:t>  &lt;rect x="760" y="200" width="400" height="80" rx="10" fill="#f0fffb" stroke="#00cc99" /&gt;</a:t>
            </a:r>
          </a:p>
          <a:p>
            <a:r>
              <a:t>  &lt;text x="960" y="245" text-anchor="middle" font-family="'Noto Sans CJK SC', sans-serif" font-size="18" fill="#333"&gt;Docker/VPC 隔离执行环境&lt;/text&gt;</a:t>
            </a:r>
          </a:p>
          <a:p>
            <a:r>
              <a:t>  </a:t>
            </a:r>
          </a:p>
          <a:p>
            <a:r>
              <a:t>  &lt;path d="M960 280 L960 320" fill="none" stroke="#00cc99" stroke-width="3" /&gt;</a:t>
            </a:r>
          </a:p>
          <a:p>
            <a:r>
              <a:t>  </a:t>
            </a:r>
          </a:p>
          <a:p>
            <a:r>
              <a:t>  &lt;rect x="760" y="320" width="400" height="80" rx="10" fill="#f0fffb" stroke="#00cc99" /&gt;</a:t>
            </a:r>
          </a:p>
          <a:p>
            <a:r>
              <a:t>  &lt;text x="960" y="365" text-anchor="middle" font-family="'Noto Sans CJK SC', sans-serif" font-size="18" fill="#333"&gt;Checker/Verifier (断言与打分)&lt;/text&gt;</a:t>
            </a:r>
          </a:p>
          <a:p>
            <a:r>
              <a:t>  </a:t>
            </a:r>
          </a:p>
          <a:p>
            <a:r>
              <a:t>  &lt;path d="M960 400 L960 440" fill="none" stroke="#00cc99" stroke-width="3" /&gt;</a:t>
            </a:r>
          </a:p>
          <a:p>
            <a:r>
              <a:t>  </a:t>
            </a:r>
          </a:p>
          <a:p>
            <a:r>
              <a:t>  &lt;rect x="760" y="440" width="400" height="80" rx="10" fill="#f0fffb" stroke="#00cc99" /&gt;</a:t>
            </a:r>
          </a:p>
          <a:p>
            <a:r>
              <a:t>  &lt;text x="960" y="485" text-anchor="middle" font-family="'Noto Sans CJK SC', sans-serif" font-size="18" fill="#333"&gt;Metric Dashboard (Pass@k 统计)&lt;/text&gt;</a:t>
            </a:r>
          </a:p>
          <a:p>
            <a:r>
              <a:t>  </a:t>
            </a:r>
          </a:p>
          <a:p>
            <a:r>
              <a:t>  &lt;!-- 底部对比表 --&gt;</a:t>
            </a:r>
          </a:p>
          <a:p>
            <a:r>
              <a:t>  &lt;rect x="100" y="560" width="1080" height="120" rx="10" fill="#333" /&gt;</a:t>
            </a:r>
          </a:p>
          <a:p>
            <a:r>
              <a:t>  &lt;text x="200" y="600" font-family="'Noto Sans CJK SC', sans-serif" font-size="20" fill="#00a8cc"&gt;Skill：逻辑注入&lt;/text&gt;</a:t>
            </a:r>
          </a:p>
          <a:p>
            <a:r>
              <a:t>  &lt;text x="200" y="640" font-family="'Noto Sans CJK SC', sans-serif" font-size="18" fill="#bbb"&gt;增加 Agent 的“智商”与“手臂”&lt;/text&gt;</a:t>
            </a:r>
          </a:p>
          <a:p>
            <a:r>
              <a:t>  </a:t>
            </a:r>
          </a:p>
          <a:p>
            <a:r>
              <a:t>  &lt;line x1="640" y1="580" x2="640" y2="660" stroke="#555" stroke-width="2" /&gt;</a:t>
            </a:r>
          </a:p>
          <a:p>
            <a:r>
              <a:t>  </a:t>
            </a:r>
          </a:p>
          <a:p>
            <a:r>
              <a:t>  &lt;text x="700" y="600" font-family="'Noto Sans CJK SC', sans-serif" font-size="20" fill="#00cc99"&gt;Harness：基座注入&lt;/text&gt;</a:t>
            </a:r>
          </a:p>
          <a:p>
            <a:r>
              <a:t>  &lt;text x="700" y="640" font-family="'Noto Sans CJK SC', sans-serif" font-size="18" fill="#bbb"&gt;增加系统的“鲁棒性”与“可观测性”&lt;/text&gt;</a:t>
            </a:r>
          </a:p>
          <a:p>
            <a:r>
              <a:t>&lt;/svg&gt;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4 SVG Source ===</a:t>
            </a:r>
          </a:p>
          <a:p>
            <a:r>
              <a:t>(You can copy the code below and save as .svg to edit)</a:t>
            </a:r>
          </a:p>
          <a:p/>
          <a:p>
            <a:r>
              <a:t>&lt;svg xmlns="http://www.w3.org/2000/svg" viewBox="0 0 1280 720"&gt;</a:t>
            </a:r>
          </a:p>
          <a:p>
            <a:r>
              <a:t>  &lt;rect width="1280" height="720" fill="#f4f7f9" /&gt;</a:t>
            </a:r>
          </a:p>
          <a:p>
            <a:r>
              <a:t>  &lt;text x="640" y="60" text-anchor="middle" font-family="'Noto Sans CJK SC', sans-serif" font-size="32" font-weight="bold" fill="#1a3a5f"&gt;4. 应用场景对比：谁更适合什么场景&lt;/text&gt;</a:t>
            </a:r>
          </a:p>
          <a:p>
            <a:r>
              <a:t>  </a:t>
            </a:r>
          </a:p>
          <a:p>
            <a:r>
              <a:t>  &lt;!-- 2x2 矩阵 --&gt;</a:t>
            </a:r>
          </a:p>
          <a:p>
            <a:r>
              <a:t>  &lt;line x1="100" y1="380" x2="1180" y2="380" stroke="#ccc" stroke-width="2" /&gt;</a:t>
            </a:r>
          </a:p>
          <a:p>
            <a:r>
              <a:t>  &lt;line x1="640" y1="120" x2="640" y2="640" stroke="#ccc" stroke-width="2" /&gt;</a:t>
            </a:r>
          </a:p>
          <a:p>
            <a:r>
              <a:t>  </a:t>
            </a:r>
          </a:p>
          <a:p>
            <a:r>
              <a:t>  &lt;!-- 象限 1 --&gt;</a:t>
            </a:r>
          </a:p>
          <a:p>
            <a:r>
              <a:t>  &lt;text x="370" y="150" text-anchor="middle" font-family="'Noto Sans CJK SC', sans-serif" font-size="22" font-weight="bold" fill="#00a8cc"&gt;高 Skill 需求场景&lt;/text&gt;</a:t>
            </a:r>
          </a:p>
          <a:p>
            <a:r>
              <a:t>  &lt;text x="370" y="200" text-anchor="middle" font-family="'Noto Sans CJK SC', sans-serif" font-size="18" fill="#555"&gt;● 个人助理 (邮件、日程、购票)&lt;/text&gt;</a:t>
            </a:r>
          </a:p>
          <a:p>
            <a:r>
              <a:t>  &lt;text x="370" y="240" text-anchor="middle" font-family="'Noto Sans CJK SC', sans-serif" font-size="18" fill="#555"&gt;● 创意协作 (搜索、绘图、PDF 处理)&lt;/text&gt;</a:t>
            </a:r>
          </a:p>
          <a:p>
            <a:r>
              <a:t>  &lt;text x="370" y="280" text-anchor="middle" font-family="'Noto Sans CJK SC', sans-serif" font-size="18" fill="#555"&gt;● 复杂数据清洗与转换&lt;/text&gt;</a:t>
            </a:r>
          </a:p>
          <a:p/>
          <a:p>
            <a:r>
              <a:t>  &lt;!-- 象限 2 --&gt;</a:t>
            </a:r>
          </a:p>
          <a:p>
            <a:r>
              <a:t>  &lt;text x="910" y="150" text-anchor="middle" font-family="'Noto Sans CJK SC', sans-serif" font-size="22" font-weight="bold" fill="#d9534f"&gt;双高需求 (生产级 Agent)&lt;/text&gt;</a:t>
            </a:r>
          </a:p>
          <a:p>
            <a:r>
              <a:t>  &lt;text x="910" y="200" text-anchor="middle" font-family="'Noto Sans CJK SC', sans-serif" font-size="18" fill="#555"&gt;● 自动化运维 (DevOps Agent)&lt;/text&gt;</a:t>
            </a:r>
          </a:p>
          <a:p>
            <a:r>
              <a:t>  &lt;text x="910" y="240" text-anchor="middle" font-family="'Noto Sans CJK SC', sans-serif" font-size="18" fill="#555"&gt;● 企业级财务审批工作流&lt;/text&gt;</a:t>
            </a:r>
          </a:p>
          <a:p>
            <a:r>
              <a:t>  &lt;text x="910" y="280" text-anchor="middle" font-family="'Noto Sans CJK SC', sans-serif" font-size="18" fill="#555"&gt;● 自动驾驶/机器人控制&lt;/text&gt;</a:t>
            </a:r>
          </a:p>
          <a:p/>
          <a:p>
            <a:r>
              <a:t>  &lt;!-- 象限 3 --&gt;</a:t>
            </a:r>
          </a:p>
          <a:p>
            <a:r>
              <a:t>  &lt;text x="370" y="420" text-anchor="middle" font-family="'Noto Sans CJK SC', sans-serif" font-size="22" font-weight="bold" fill="#777"&gt;低需求/纯对话场景&lt;/text&gt;</a:t>
            </a:r>
          </a:p>
          <a:p>
            <a:r>
              <a:t>  &lt;text x="370" y="470" text-anchor="middle" font-family="'Noto Sans CJK SC', sans-serif" font-size="18" fill="#555"&gt;● 娱乐聊天机器人&lt;/text&gt;</a:t>
            </a:r>
          </a:p>
          <a:p>
            <a:r>
              <a:t>  &lt;text x="370" y="510" text-anchor="middle" font-family="'Noto Sans CJK SC', sans-serif" font-size="18" fill="#555"&gt;● 基础 QA 咨询&lt;/text&gt;</a:t>
            </a:r>
          </a:p>
          <a:p/>
          <a:p>
            <a:r>
              <a:t>  &lt;!-- 象限 4 --&gt;</a:t>
            </a:r>
          </a:p>
          <a:p>
            <a:r>
              <a:t>  &lt;text x="910" y="420" text-anchor="middle" font-family="'Noto Sans CJK SC', sans-serif" font-size="22" font-weight="bold" fill="#00cc99"&gt;高 Harness 需求场景&lt;/text&gt;</a:t>
            </a:r>
          </a:p>
          <a:p>
            <a:r>
              <a:t>  &lt;text x="910" y="470" text-anchor="middle" font-family="'Noto Sans CJK SC', sans-serif" font-size="18" fill="#555"&gt;● 合规性审查 (Audit Agent)&lt;/text&gt;</a:t>
            </a:r>
          </a:p>
          <a:p>
            <a:r>
              <a:t>  &lt;text x="910" y="510" text-anchor="middle" font-family="'Noto Sans CJK SC', sans-serif" font-size="18" fill="#555"&gt;● 模型安全性红队测试&lt;/text&gt;</a:t>
            </a:r>
          </a:p>
          <a:p>
            <a:r>
              <a:t>  &lt;text x="910" y="550" text-anchor="middle" font-family="'Noto Sans CJK SC', sans-serif" font-size="18" fill="#555"&gt;● 金融量化策略回测&lt;/text&gt;</a:t>
            </a:r>
          </a:p>
          <a:p/>
          <a:p>
            <a:r>
              <a:t>  &lt;!-- 轴标签 --&gt;</a:t>
            </a:r>
          </a:p>
          <a:p>
            <a:r>
              <a:t>  &lt;text x="1180" y="410" text-anchor="end" font-family="'Noto Sans CJK SC', sans-serif" font-size="16" fill="#999"&gt;可靠性/安全性要求 (Harness) →&lt;/text&gt;</a:t>
            </a:r>
          </a:p>
          <a:p>
            <a:r>
              <a:t>  &lt;text x="650" y="120" font-family="'Noto Sans CJK SC', sans-serif" font-size="16" fill="#999"&gt;能力复杂度 (Skill) ↑&lt;/text&gt;</a:t>
            </a:r>
          </a:p>
          <a:p>
            <a:r>
              <a:t>&lt;/svg&gt;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5 SVG Source ===</a:t>
            </a:r>
          </a:p>
          <a:p>
            <a:r>
              <a:t>(You can copy the code below and save as .svg to edit)</a:t>
            </a:r>
          </a:p>
          <a:p/>
          <a:p>
            <a:r>
              <a:t>&lt;svg xmlns="http://www.w3.org/2000/svg" viewBox="0 0 1280 720"&gt;</a:t>
            </a:r>
          </a:p>
          <a:p>
            <a:r>
              <a:t>  &lt;rect width="1280" height="720" fill="#1a3a5f" /&gt;</a:t>
            </a:r>
          </a:p>
          <a:p>
            <a:r>
              <a:t>  </a:t>
            </a:r>
          </a:p>
          <a:p>
            <a:r>
              <a:t>  &lt;!-- 结论框 --&gt;</a:t>
            </a:r>
          </a:p>
          <a:p>
            <a:r>
              <a:t>  &lt;rect x="100" y="80" width="1080" height="560" rx="20" fill="#ffffff" /&gt;</a:t>
            </a:r>
          </a:p>
          <a:p>
            <a:r>
              <a:t>  &lt;text x="640" y="150" text-anchor="middle" font-family="'Noto Sans CJK SC', sans-serif" font-size="36" font-weight="bold" fill="#1a3a5f"&gt;5. 总结：融合趋势与选型建议&lt;/text&gt;</a:t>
            </a:r>
          </a:p>
          <a:p>
            <a:r>
              <a:t>  </a:t>
            </a:r>
          </a:p>
          <a:p>
            <a:r>
              <a:t>  &lt;line x1="200" y1="180" x2="1080" y2="180" stroke="#00a8cc" stroke-width="3" /&gt;</a:t>
            </a:r>
          </a:p>
          <a:p>
            <a:r>
              <a:t>  </a:t>
            </a:r>
          </a:p>
          <a:p>
            <a:r>
              <a:t>  &lt;!-- 核心结论点 --&gt;</a:t>
            </a:r>
          </a:p>
          <a:p>
            <a:r>
              <a:t>  &lt;g transform="translate(150, 240)"&gt;</a:t>
            </a:r>
          </a:p>
          <a:p>
            <a:r>
              <a:t>    &lt;rect width="900" height="80" rx="10" fill="#f0f7ff" /&gt;</a:t>
            </a:r>
          </a:p>
          <a:p>
            <a:r>
              <a:t>    &lt;text x="40" y="50" font-family="'Noto Sans CJK SC', sans-serif" font-size="22" font-weight="bold" fill="#00a8cc"&gt;趋势：&lt;/text&gt;</a:t>
            </a:r>
          </a:p>
          <a:p>
            <a:r>
              <a:t>    &lt;text x="120" y="50" font-family="'Noto Sans CJK SC', sans-serif" font-size="20" fill="#333"&gt;Skill 正在标准化 (如 MCP 协议)，Harness 正在自动化 (LLM-as-a-Judge)。&lt;/text&gt;</a:t>
            </a:r>
          </a:p>
          <a:p>
            <a:r>
              <a:t>  &lt;/g&gt;</a:t>
            </a:r>
          </a:p>
          <a:p>
            <a:r>
              <a:t>  </a:t>
            </a:r>
          </a:p>
          <a:p>
            <a:r>
              <a:t>  &lt;g transform="translate(150, 340)"&gt;</a:t>
            </a:r>
          </a:p>
          <a:p>
            <a:r>
              <a:t>    &lt;rect width="900" height="80" rx="10" fill="#f0fffb" /&gt;</a:t>
            </a:r>
          </a:p>
          <a:p>
            <a:r>
              <a:t>    &lt;text x="40" y="50" font-family="'Noto Sans CJK SC', sans-serif" font-size="22" font-weight="bold" fill="#00cc99"&gt;选型：&lt;/text&gt;</a:t>
            </a:r>
          </a:p>
          <a:p>
            <a:r>
              <a:t>    &lt;text x="120" y="50" font-family="'Noto Sans CJK SC', sans-serif" font-size="20" fill="#333"&gt;早期验证优先堆 Skill 提升能力；上线生产必须建 Harness 保证下限。&lt;/text&gt;</a:t>
            </a:r>
          </a:p>
          <a:p>
            <a:r>
              <a:t>  &lt;/g&gt;</a:t>
            </a:r>
          </a:p>
          <a:p>
            <a:r>
              <a:t>  </a:t>
            </a:r>
          </a:p>
          <a:p>
            <a:r>
              <a:t>  &lt;g transform="translate(150, 440)"&gt;</a:t>
            </a:r>
          </a:p>
          <a:p>
            <a:r>
              <a:t>    &lt;rect width="900" height="80" rx="10" fill="#fffcf0" /&gt;</a:t>
            </a:r>
          </a:p>
          <a:p>
            <a:r>
              <a:t>    &lt;text x="40" y="50" font-family="'Noto Sans CJK SC', sans-serif" font-size="22" font-weight="bold" fill="#f0ad4e"&gt;闭环：&lt;/text&gt;</a:t>
            </a:r>
          </a:p>
          <a:p>
            <a:r>
              <a:t>    &lt;text x="120" y="50" font-family="'Noto Sans CJK SC', sans-serif" font-size="20" fill="#333"&gt;通过 Harness 的反馈数据，反过来指导 Skill 的演进与 Prompt 优化。&lt;/text&gt;</a:t>
            </a:r>
          </a:p>
          <a:p>
            <a:r>
              <a:t>  &lt;/g&gt;</a:t>
            </a:r>
          </a:p>
          <a:p>
            <a:r>
              <a:t>  </a:t>
            </a:r>
          </a:p>
          <a:p>
            <a:r>
              <a:t>  &lt;text x="640" y="580" text-anchor="middle" font-family="'Noto Sans CJK SC', sans-serif" font-size="28" font-weight="bold" fill="#1a3a5f"&gt;没有 Skill 的 Agent 是花架子，没有 Harness 的 Agent 是定时炸弹。&lt;/text&gt;</a:t>
            </a:r>
          </a:p>
          <a:p>
            <a:r>
              <a:t>  </a:t>
            </a:r>
          </a:p>
          <a:p>
            <a:r>
              <a:t>  &lt;text x="640" y="680" text-anchor="middle" font-family="'Noto Sans CJK SC', sans-serif" font-size="16" fill="#ffffff" opacity="0.6"&gt;© 2026 AI Research Visualizer - 行业深度分析报告&lt;/text&gt;</a:t>
            </a:r>
          </a:p>
          <a:p>
            <a:r>
              <a:t>&lt;/svg&gt;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